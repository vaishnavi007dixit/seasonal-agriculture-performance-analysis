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6" d="100"/>
          <a:sy n="86" d="100"/>
        </p:scale>
        <p:origin x="466"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54602" y="3583914"/>
            <a:ext cx="8540318" cy="861497"/>
          </a:xfrm>
        </p:spPr>
        <p:txBody>
          <a:bodyPr vert="horz" lIns="91440" tIns="45720" rIns="91440" bIns="45720" rtlCol="0" anchor="t">
            <a:normAutofit/>
          </a:bodyPr>
          <a:lstStyle/>
          <a:p>
            <a:r>
              <a:rPr lang="en-US" b="0" dirty="0">
                <a:solidFill>
                  <a:schemeClr val="tx1"/>
                </a:solidFill>
              </a:rPr>
              <a:t>Student Name: Vaishnavi Dixit</a:t>
            </a:r>
            <a:endParaRPr lang="en-IN" b="0" dirty="0">
              <a:solidFill>
                <a:schemeClr val="tx1"/>
              </a:solidFill>
            </a:endParaRPr>
          </a:p>
          <a:p>
            <a:r>
              <a:rPr lang="en-US" b="0" dirty="0">
                <a:solidFill>
                  <a:schemeClr val="tx1"/>
                </a:solidFill>
              </a:rPr>
              <a:t>College Name- </a:t>
            </a:r>
            <a:r>
              <a:rPr lang="en-US" b="0" dirty="0">
                <a:solidFill>
                  <a:schemeClr val="tx1">
                    <a:lumMod val="95000"/>
                    <a:lumOff val="5000"/>
                  </a:schemeClr>
                </a:solidFill>
              </a:rPr>
              <a:t>Fairfield Institute of Management and Technology</a:t>
            </a:r>
            <a:endParaRPr lang="en-IN" b="0" dirty="0">
              <a:solidFill>
                <a:schemeClr val="tx1">
                  <a:lumMod val="95000"/>
                  <a:lumOff val="5000"/>
                </a:schemeClr>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072494"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011565" cy="369332"/>
          </a:xfrm>
          <a:prstGeom prst="rect">
            <a:avLst/>
          </a:prstGeom>
          <a:noFill/>
        </p:spPr>
        <p:txBody>
          <a:bodyPr wrap="square" rtlCol="0">
            <a:spAutoFit/>
          </a:bodyPr>
          <a:lstStyle/>
          <a:p>
            <a:r>
              <a:rPr lang="en-US" b="1" dirty="0"/>
              <a:t>AICTE STU ID  :</a:t>
            </a:r>
            <a:r>
              <a:rPr lang="en-IN" b="1" dirty="0"/>
              <a:t>STU6a3f56b799e411782535863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71628" y="344488"/>
            <a:ext cx="11448743" cy="6320472"/>
          </a:xfrm>
        </p:spPr>
        <p:txBody>
          <a:bodyPr>
            <a:noAutofit/>
          </a:bodyPr>
          <a:lstStyle/>
          <a:p>
            <a:r>
              <a:rPr lang="en-GB" sz="2000" dirty="0"/>
              <a:t>Project Description</a:t>
            </a:r>
            <a:br>
              <a:rPr lang="en-GB" sz="2000" dirty="0"/>
            </a:br>
            <a:r>
              <a:rPr lang="en-US" sz="1400" b="0" dirty="0">
                <a:solidFill>
                  <a:schemeClr val="tx1">
                    <a:lumMod val="95000"/>
                    <a:lumOff val="5000"/>
                  </a:schemeClr>
                </a:solidFill>
              </a:rPr>
              <a:t>This project focuses on analyzing seasonal patterns in agricultural performance using a real-world style dataset covering 4,000 farm records across multiple Indian states, districts, and crops, spread across the three major agricultural seasons — Kharif, Rabi, and Zaid.</a:t>
            </a:r>
            <a:br>
              <a:rPr lang="en-US" sz="1400" b="0" dirty="0">
                <a:solidFill>
                  <a:schemeClr val="tx1">
                    <a:lumMod val="95000"/>
                    <a:lumOff val="5000"/>
                  </a:schemeClr>
                </a:solidFill>
              </a:rPr>
            </a:br>
            <a:r>
              <a:rPr lang="en-US" sz="1400" b="0" dirty="0">
                <a:solidFill>
                  <a:schemeClr val="tx1">
                    <a:lumMod val="95000"/>
                    <a:lumOff val="5000"/>
                  </a:schemeClr>
                </a:solidFill>
              </a:rPr>
              <a:t>The dataset combines four categories of information for each farm: environmental conditions (rainfall, temperature, humidity, sunlight hours), soil and input conditions (soil pH, soil moisture, nitrogen/phosphorus/potassium levels, fertilizer and pesticide usage, irrigation method, seed quality), production outcomes (yield per hectare, total production), and economic outcomes (market price, cost, revenue, and profit), along with resource-efficiency metrics like water usage and water efficiency, and a disease/pest risk indicator.</a:t>
            </a:r>
            <a:br>
              <a:rPr lang="en-US" sz="1400" b="0" dirty="0">
                <a:solidFill>
                  <a:schemeClr val="tx1">
                    <a:lumMod val="95000"/>
                    <a:lumOff val="5000"/>
                  </a:schemeClr>
                </a:solidFill>
              </a:rPr>
            </a:br>
            <a:r>
              <a:rPr lang="en-US" sz="1400" b="0" dirty="0">
                <a:solidFill>
                  <a:schemeClr val="tx1">
                    <a:lumMod val="95000"/>
                    <a:lumOff val="5000"/>
                  </a:schemeClr>
                </a:solidFill>
              </a:rPr>
              <a:t>The goal was not to describe the dataset generically, but to specifically investigate how these factors change from season to season, and whether those seasonal differences are meaningful rather than random.</a:t>
            </a:r>
            <a:br>
              <a:rPr lang="en-US" sz="1400" b="0" dirty="0">
                <a:solidFill>
                  <a:schemeClr val="tx1">
                    <a:lumMod val="95000"/>
                    <a:lumOff val="5000"/>
                  </a:schemeClr>
                </a:solidFill>
              </a:rPr>
            </a:br>
            <a:r>
              <a:rPr lang="en-US" sz="1400" dirty="0">
                <a:solidFill>
                  <a:schemeClr val="tx1">
                    <a:lumMod val="95000"/>
                    <a:lumOff val="5000"/>
                  </a:schemeClr>
                </a:solidFill>
              </a:rPr>
              <a:t>Approach followed:</a:t>
            </a:r>
            <a:br>
              <a:rPr lang="en-US" sz="1400" b="0" dirty="0">
                <a:solidFill>
                  <a:schemeClr val="tx1">
                    <a:lumMod val="95000"/>
                    <a:lumOff val="5000"/>
                  </a:schemeClr>
                </a:solidFill>
              </a:rPr>
            </a:br>
            <a:r>
              <a:rPr lang="en-US" sz="1400" b="0" dirty="0">
                <a:solidFill>
                  <a:schemeClr val="tx1">
                    <a:lumMod val="95000"/>
                    <a:lumOff val="5000"/>
                  </a:schemeClr>
                </a:solidFill>
              </a:rPr>
              <a:t>Data Cleaning – Missing values in Rainfall, Soil Moisture, and Yield were identified and filled using the median value within each season, since imputing season-wise preserves the seasonal character of the data rather than distorting it with a single overall average. Duplicate records were also checked.</a:t>
            </a:r>
            <a:br>
              <a:rPr lang="en-US" sz="1400" b="0" dirty="0">
                <a:solidFill>
                  <a:schemeClr val="tx1">
                    <a:lumMod val="95000"/>
                    <a:lumOff val="5000"/>
                  </a:schemeClr>
                </a:solidFill>
              </a:rPr>
            </a:br>
            <a:r>
              <a:rPr lang="en-US" sz="1400" b="0" dirty="0">
                <a:solidFill>
                  <a:schemeClr val="tx1">
                    <a:lumMod val="95000"/>
                    <a:lumOff val="5000"/>
                  </a:schemeClr>
                </a:solidFill>
              </a:rPr>
              <a:t>Exploratory Data Analysis (EDA) – Using Python libraries (Pandas, NumPy, Matplotlib, Seaborn), the dataset was explored to compare yield, profit, rainfall, temperature, humidity, water usage, water efficiency, fertilizer/pesticide usage, and disease/pest risk across the three seasons using boxplots, bar charts, and violin plots.</a:t>
            </a:r>
            <a:br>
              <a:rPr lang="en-US" sz="1400" b="0" dirty="0">
                <a:solidFill>
                  <a:schemeClr val="tx1">
                    <a:lumMod val="95000"/>
                    <a:lumOff val="5000"/>
                  </a:schemeClr>
                </a:solidFill>
              </a:rPr>
            </a:br>
            <a:r>
              <a:rPr lang="en-US" sz="1400" b="0" dirty="0">
                <a:solidFill>
                  <a:schemeClr val="tx1">
                    <a:lumMod val="95000"/>
                    <a:lumOff val="5000"/>
                  </a:schemeClr>
                </a:solidFill>
              </a:rPr>
              <a:t>Deeper Pattern Analysis – Crop-wise and state-wise seasonal comparisons were built using pivot tables and heatmaps, to check whether seasonal patterns are consistent across all crops/regions or vary in unexpected ways.</a:t>
            </a:r>
            <a:br>
              <a:rPr lang="en-US" sz="1400" b="0" dirty="0">
                <a:solidFill>
                  <a:schemeClr val="tx1">
                    <a:lumMod val="95000"/>
                    <a:lumOff val="5000"/>
                  </a:schemeClr>
                </a:solidFill>
              </a:rPr>
            </a:br>
            <a:r>
              <a:rPr lang="en-US" sz="1400" b="0" dirty="0">
                <a:solidFill>
                  <a:schemeClr val="tx1">
                    <a:lumMod val="95000"/>
                    <a:lumOff val="5000"/>
                  </a:schemeClr>
                </a:solidFill>
              </a:rPr>
              <a:t>Correlation Analysis – A correlation heatmap was built across key numeric variables (rainfall, temperature, soil moisture, fertilizer, yield, water usage/efficiency, disease risk, and profit) to understand relationships between environmental/input factors and outcomes.</a:t>
            </a:r>
            <a:br>
              <a:rPr lang="en-US" sz="1400" b="0" dirty="0">
                <a:solidFill>
                  <a:schemeClr val="tx1">
                    <a:lumMod val="95000"/>
                    <a:lumOff val="5000"/>
                  </a:schemeClr>
                </a:solidFill>
              </a:rPr>
            </a:br>
            <a:r>
              <a:rPr lang="en-US" sz="1400" b="0" dirty="0">
                <a:solidFill>
                  <a:schemeClr val="tx1">
                    <a:lumMod val="95000"/>
                    <a:lumOff val="5000"/>
                  </a:schemeClr>
                </a:solidFill>
              </a:rPr>
              <a:t>Statistical Testing – A one-way ANOVA test was applied to Yield and Profit to statistically confirm whether the seasonal differences observed visually are actually significant, rather than due to chance.</a:t>
            </a:r>
            <a:br>
              <a:rPr lang="en-US" sz="1400" b="0" dirty="0">
                <a:solidFill>
                  <a:schemeClr val="tx1">
                    <a:lumMod val="95000"/>
                    <a:lumOff val="5000"/>
                  </a:schemeClr>
                </a:solidFill>
              </a:rPr>
            </a:br>
            <a:r>
              <a:rPr lang="en-US" sz="1400" dirty="0" err="1">
                <a:solidFill>
                  <a:schemeClr val="tx1">
                    <a:lumMod val="95000"/>
                    <a:lumOff val="5000"/>
                  </a:schemeClr>
                </a:solidFill>
              </a:rPr>
              <a:t>Outcome:</a:t>
            </a:r>
            <a:r>
              <a:rPr lang="en-US" sz="1400" b="0" dirty="0" err="1"/>
              <a:t>The</a:t>
            </a:r>
            <a:r>
              <a:rPr lang="en-US" sz="1400" b="0" dirty="0"/>
              <a:t> analysis shows that while resource usage and environmental factors vary noticeably across seasons, ANOVA testing revealed that yield differences across seasons were not statistically significant (p = 0.212), whereas profit differences across seasons were highly statistically significant (p &lt; 0.00001). This suggests that season affects economic outcomes more directly than it affects raw yield, likely due to seasonal variation in cost, market price, and resource efficiency</a:t>
            </a:r>
            <a:br>
              <a:rPr lang="en-GB" sz="1400" b="0" dirty="0"/>
            </a:br>
            <a:endParaRPr lang="en-IN" sz="14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09AC9BD1-F563-F378-B72A-796296CB7BFB}"/>
              </a:ext>
            </a:extLst>
          </p:cNvPr>
          <p:cNvSpPr>
            <a:spLocks noGrp="1" noChangeArrowheads="1"/>
          </p:cNvSpPr>
          <p:nvPr>
            <p:ph type="body" sz="quarter" idx="12"/>
          </p:nvPr>
        </p:nvSpPr>
        <p:spPr bwMode="auto">
          <a:xfrm>
            <a:off x="620008" y="1573541"/>
            <a:ext cx="821908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Farmers</a:t>
            </a:r>
            <a:r>
              <a:rPr kumimoji="0" lang="en-US" altLang="en-US" b="0" i="0" u="none" strike="noStrike" cap="none" normalizeH="0" baseline="0" dirty="0">
                <a:ln>
                  <a:noFill/>
                </a:ln>
                <a:solidFill>
                  <a:schemeClr val="tx1"/>
                </a:solidFill>
                <a:effectLst/>
                <a:latin typeface="Arial" panose="020B0604020202020204" pitchFamily="34" charset="0"/>
              </a:rPr>
              <a:t> – to understand which season suits their crop best, plan irrigation and fertilizer use more efficiently, and anticipate disease/pest risk ahead of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Agricultural Officers / Extension Workers</a:t>
            </a:r>
            <a:r>
              <a:rPr kumimoji="0" lang="en-US" altLang="en-US" b="0" i="0" u="none" strike="noStrike" cap="none" normalizeH="0" baseline="0" dirty="0">
                <a:ln>
                  <a:noFill/>
                </a:ln>
                <a:solidFill>
                  <a:schemeClr val="tx1"/>
                </a:solidFill>
                <a:effectLst/>
                <a:latin typeface="Arial" panose="020B0604020202020204" pitchFamily="34" charset="0"/>
              </a:rPr>
              <a:t> – to guide farmers with data-backed seasonal recommendations rather than only traditional practice.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Government Agricultural Departments &amp; Policymakers</a:t>
            </a:r>
            <a:r>
              <a:rPr kumimoji="0" lang="en-US" altLang="en-US" b="0" i="0" u="none" strike="noStrike" cap="none" normalizeH="0" baseline="0" dirty="0">
                <a:ln>
                  <a:noFill/>
                </a:ln>
                <a:solidFill>
                  <a:schemeClr val="tx1"/>
                </a:solidFill>
                <a:effectLst/>
                <a:latin typeface="Arial" panose="020B0604020202020204" pitchFamily="34" charset="0"/>
              </a:rPr>
              <a:t> – to plan seasonal resource allocation (water, subsidies, support schemes) based on evidence of where seasonal performance is weak.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Agri-tech Companies &amp; Researchers</a:t>
            </a:r>
            <a:r>
              <a:rPr kumimoji="0" lang="en-US" altLang="en-US" b="0" i="0" u="none" strike="noStrike" cap="none" normalizeH="0" baseline="0" dirty="0">
                <a:ln>
                  <a:noFill/>
                </a:ln>
                <a:solidFill>
                  <a:schemeClr val="tx1"/>
                </a:solidFill>
                <a:effectLst/>
                <a:latin typeface="Arial" panose="020B0604020202020204" pitchFamily="34" charset="0"/>
              </a:rPr>
              <a:t> – to build on this kind of seasonal analysis for crop advisory apps, yield prediction models, or precision farming tools.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Financial Institutions / Crop Insurance Providers</a:t>
            </a:r>
            <a:r>
              <a:rPr kumimoji="0" lang="en-US" altLang="en-US" b="0" i="0" u="none" strike="noStrike" cap="none" normalizeH="0" baseline="0" dirty="0">
                <a:ln>
                  <a:noFill/>
                </a:ln>
                <a:solidFill>
                  <a:schemeClr val="tx1"/>
                </a:solidFill>
                <a:effectLst/>
                <a:latin typeface="Arial" panose="020B0604020202020204" pitchFamily="34" charset="0"/>
              </a:rPr>
              <a:t> – to assess seasonal risk patterns (e.g. disease risk, profit volatility) when designing loan or insurance products for farmers.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A865242D-17A7-117B-992D-0CB60F258B82}"/>
              </a:ext>
            </a:extLst>
          </p:cNvPr>
          <p:cNvSpPr>
            <a:spLocks noGrp="1" noChangeArrowheads="1"/>
          </p:cNvSpPr>
          <p:nvPr>
            <p:ph type="body" sz="quarter" idx="12"/>
          </p:nvPr>
        </p:nvSpPr>
        <p:spPr bwMode="auto">
          <a:xfrm>
            <a:off x="467359" y="1536098"/>
            <a:ext cx="1057339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Python</a:t>
            </a:r>
            <a:r>
              <a:rPr kumimoji="0" lang="en-US" altLang="en-US" sz="1800" b="0" i="0" u="none" strike="noStrike" cap="none" normalizeH="0" baseline="0">
                <a:ln>
                  <a:noFill/>
                </a:ln>
                <a:solidFill>
                  <a:schemeClr val="tx1"/>
                </a:solidFill>
                <a:effectLst/>
                <a:latin typeface="Arial" panose="020B0604020202020204" pitchFamily="34" charset="0"/>
              </a:rPr>
              <a:t> – core programming language for the entire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Pandas</a:t>
            </a:r>
            <a:r>
              <a:rPr kumimoji="0" lang="en-US" altLang="en-US" sz="1800" b="0" i="0" u="none" strike="noStrike" cap="none" normalizeH="0" baseline="0">
                <a:ln>
                  <a:noFill/>
                </a:ln>
                <a:solidFill>
                  <a:schemeClr val="tx1"/>
                </a:solidFill>
                <a:effectLst/>
                <a:latin typeface="Arial" panose="020B0604020202020204" pitchFamily="34" charset="0"/>
              </a:rPr>
              <a:t> – data loading, cleaning, and manipulation (handling missing values, grouping, pivot tables)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NumPy</a:t>
            </a:r>
            <a:r>
              <a:rPr kumimoji="0" lang="en-US" altLang="en-US" sz="1800" b="0" i="0" u="none" strike="noStrike" cap="none" normalizeH="0" baseline="0">
                <a:ln>
                  <a:noFill/>
                </a:ln>
                <a:solidFill>
                  <a:schemeClr val="tx1"/>
                </a:solidFill>
                <a:effectLst/>
                <a:latin typeface="Arial" panose="020B0604020202020204" pitchFamily="34" charset="0"/>
              </a:rPr>
              <a:t> – numerical operations and aggregations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Matplotlib</a:t>
            </a:r>
            <a:r>
              <a:rPr kumimoji="0" lang="en-US" altLang="en-US" sz="1800" b="0" i="0" u="none" strike="noStrike" cap="none" normalizeH="0" baseline="0">
                <a:ln>
                  <a:noFill/>
                </a:ln>
                <a:solidFill>
                  <a:schemeClr val="tx1"/>
                </a:solidFill>
                <a:effectLst/>
                <a:latin typeface="Arial" panose="020B0604020202020204" pitchFamily="34" charset="0"/>
              </a:rPr>
              <a:t> – base plotting library for charts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Seaborn</a:t>
            </a:r>
            <a:r>
              <a:rPr kumimoji="0" lang="en-US" altLang="en-US" sz="1800" b="0" i="0" u="none" strike="noStrike" cap="none" normalizeH="0" baseline="0">
                <a:ln>
                  <a:noFill/>
                </a:ln>
                <a:solidFill>
                  <a:schemeClr val="tx1"/>
                </a:solidFill>
                <a:effectLst/>
                <a:latin typeface="Arial" panose="020B0604020202020204" pitchFamily="34" charset="0"/>
              </a:rPr>
              <a:t> – statistical visualizations (boxplots, bar charts, violin plots, heatmaps)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SciPy (stats module)</a:t>
            </a:r>
            <a:r>
              <a:rPr kumimoji="0" lang="en-US" altLang="en-US" sz="1800" b="0" i="0" u="none" strike="noStrike" cap="none" normalizeH="0" baseline="0">
                <a:ln>
                  <a:noFill/>
                </a:ln>
                <a:solidFill>
                  <a:schemeClr val="tx1"/>
                </a:solidFill>
                <a:effectLst/>
                <a:latin typeface="Arial" panose="020B0604020202020204" pitchFamily="34" charset="0"/>
              </a:rPr>
              <a:t> – ANOVA test for statistical significance of seasonal differences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Jupyter Notebook / Google Colab</a:t>
            </a:r>
            <a:r>
              <a:rPr kumimoji="0" lang="en-US" altLang="en-US" sz="1800" b="0" i="0" u="none" strike="noStrike" cap="none" normalizeH="0" baseline="0">
                <a:ln>
                  <a:noFill/>
                </a:ln>
                <a:solidFill>
                  <a:schemeClr val="tx1"/>
                </a:solidFill>
                <a:effectLst/>
                <a:latin typeface="Arial" panose="020B0604020202020204" pitchFamily="34" charset="0"/>
              </a:rPr>
              <a:t> – development environment for writing and running the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Microsoft PowerPoint</a:t>
            </a:r>
            <a:r>
              <a:rPr kumimoji="0" lang="en-US" altLang="en-US" sz="1800" b="0" i="0" u="none" strike="noStrike" cap="none" normalizeH="0" baseline="0">
                <a:ln>
                  <a:noFill/>
                </a:ln>
                <a:solidFill>
                  <a:schemeClr val="tx1"/>
                </a:solidFill>
                <a:effectLst/>
                <a:latin typeface="Arial" panose="020B0604020202020204" pitchFamily="34" charset="0"/>
              </a:rPr>
              <a:t> – for presenting the final findings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68675"/>
            <a:ext cx="2981643" cy="763480"/>
          </a:xfrm>
        </p:spPr>
        <p:txBody>
          <a:bodyPr>
            <a:normAutofit fontScale="90000"/>
          </a:bodyPr>
          <a:lstStyle/>
          <a:p>
            <a:r>
              <a:rPr lang="en-GB" sz="27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755988" y="594805"/>
            <a:ext cx="875199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Yield varies noticeably across Kharif, Rabi, and Zaid</a:t>
            </a:r>
            <a:endParaRPr lang="en-GB" sz="2000" b="1"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03EBE37-506B-73E4-763F-5067F62BBCAF}"/>
              </a:ext>
            </a:extLst>
          </p:cNvPr>
          <p:cNvPicPr>
            <a:picLocks noChangeAspect="1"/>
          </p:cNvPicPr>
          <p:nvPr/>
        </p:nvPicPr>
        <p:blipFill>
          <a:blip r:embed="rId3"/>
          <a:stretch>
            <a:fillRect/>
          </a:stretch>
        </p:blipFill>
        <p:spPr>
          <a:xfrm>
            <a:off x="1322774" y="927844"/>
            <a:ext cx="9463596" cy="1806478"/>
          </a:xfrm>
          <a:prstGeom prst="rect">
            <a:avLst/>
          </a:prstGeom>
        </p:spPr>
      </p:pic>
      <p:pic>
        <p:nvPicPr>
          <p:cNvPr id="9" name="Picture 8">
            <a:extLst>
              <a:ext uri="{FF2B5EF4-FFF2-40B4-BE49-F238E27FC236}">
                <a16:creationId xmlns:a16="http://schemas.microsoft.com/office/drawing/2014/main" id="{2D6D1069-098D-F38C-8985-016E5DFCFB83}"/>
              </a:ext>
            </a:extLst>
          </p:cNvPr>
          <p:cNvPicPr>
            <a:picLocks noChangeAspect="1"/>
          </p:cNvPicPr>
          <p:nvPr/>
        </p:nvPicPr>
        <p:blipFill>
          <a:blip r:embed="rId4"/>
          <a:stretch>
            <a:fillRect/>
          </a:stretch>
        </p:blipFill>
        <p:spPr>
          <a:xfrm>
            <a:off x="1322774" y="2734321"/>
            <a:ext cx="9463596" cy="393063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2400" dirty="0"/>
              <a:t>RESULTS </a:t>
            </a:r>
            <a:endParaRPr lang="en-IN" sz="24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1704513" y="797851"/>
            <a:ext cx="8176334" cy="477520"/>
          </a:xfrm>
        </p:spPr>
        <p:txBody>
          <a:bodyPr>
            <a:noAutofit/>
          </a:bodyPr>
          <a:lstStyle/>
          <a:p>
            <a:pPr marL="0" indent="0">
              <a:buNone/>
            </a:pPr>
            <a:r>
              <a:rPr lang="en-US" sz="1600" b="1" dirty="0"/>
              <a:t>Average profit differs by season, showing economic impact of seasonal conditions</a:t>
            </a:r>
            <a:endParaRPr lang="en-IN" sz="1600" b="1" dirty="0"/>
          </a:p>
        </p:txBody>
      </p:sp>
      <p:pic>
        <p:nvPicPr>
          <p:cNvPr id="3" name="Picture 2">
            <a:extLst>
              <a:ext uri="{FF2B5EF4-FFF2-40B4-BE49-F238E27FC236}">
                <a16:creationId xmlns:a16="http://schemas.microsoft.com/office/drawing/2014/main" id="{4AC89C0C-7A4E-A573-12FA-C0752244D158}"/>
              </a:ext>
            </a:extLst>
          </p:cNvPr>
          <p:cNvPicPr>
            <a:picLocks noChangeAspect="1"/>
          </p:cNvPicPr>
          <p:nvPr/>
        </p:nvPicPr>
        <p:blipFill>
          <a:blip r:embed="rId3"/>
          <a:stretch>
            <a:fillRect/>
          </a:stretch>
        </p:blipFill>
        <p:spPr>
          <a:xfrm>
            <a:off x="2446172" y="1349156"/>
            <a:ext cx="6081287" cy="1928027"/>
          </a:xfrm>
          <a:prstGeom prst="rect">
            <a:avLst/>
          </a:prstGeom>
        </p:spPr>
      </p:pic>
      <p:pic>
        <p:nvPicPr>
          <p:cNvPr id="9" name="Picture 8">
            <a:extLst>
              <a:ext uri="{FF2B5EF4-FFF2-40B4-BE49-F238E27FC236}">
                <a16:creationId xmlns:a16="http://schemas.microsoft.com/office/drawing/2014/main" id="{0E6A7FAA-BD2B-E552-02E3-C8DF5BC08D6B}"/>
              </a:ext>
            </a:extLst>
          </p:cNvPr>
          <p:cNvPicPr>
            <a:picLocks noChangeAspect="1"/>
          </p:cNvPicPr>
          <p:nvPr/>
        </p:nvPicPr>
        <p:blipFill>
          <a:blip r:embed="rId4"/>
          <a:stretch>
            <a:fillRect/>
          </a:stretch>
        </p:blipFill>
        <p:spPr>
          <a:xfrm>
            <a:off x="1674921" y="3277182"/>
            <a:ext cx="7521592" cy="338777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2400" dirty="0"/>
              <a:t>RESULTS </a:t>
            </a:r>
            <a:endParaRPr lang="en-IN" sz="24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1992761" y="724066"/>
            <a:ext cx="7231137" cy="477520"/>
          </a:xfrm>
        </p:spPr>
        <p:txBody>
          <a:bodyPr>
            <a:normAutofit/>
          </a:bodyPr>
          <a:lstStyle/>
          <a:p>
            <a:pPr marL="0" indent="0">
              <a:buNone/>
            </a:pPr>
            <a:r>
              <a:rPr lang="en-US" dirty="0"/>
              <a:t>Irrigation method influences yield differently across seasons</a:t>
            </a:r>
            <a:endParaRPr lang="en-IN" b="1" dirty="0"/>
          </a:p>
        </p:txBody>
      </p:sp>
      <p:pic>
        <p:nvPicPr>
          <p:cNvPr id="6" name="Picture 5">
            <a:extLst>
              <a:ext uri="{FF2B5EF4-FFF2-40B4-BE49-F238E27FC236}">
                <a16:creationId xmlns:a16="http://schemas.microsoft.com/office/drawing/2014/main" id="{8A1C3C1E-572E-7316-8ACA-12F48435FFFB}"/>
              </a:ext>
            </a:extLst>
          </p:cNvPr>
          <p:cNvPicPr>
            <a:picLocks noChangeAspect="1"/>
          </p:cNvPicPr>
          <p:nvPr/>
        </p:nvPicPr>
        <p:blipFill>
          <a:blip r:embed="rId3"/>
          <a:stretch>
            <a:fillRect/>
          </a:stretch>
        </p:blipFill>
        <p:spPr>
          <a:xfrm>
            <a:off x="142044" y="1107908"/>
            <a:ext cx="11907912" cy="1943371"/>
          </a:xfrm>
          <a:prstGeom prst="rect">
            <a:avLst/>
          </a:prstGeom>
        </p:spPr>
      </p:pic>
      <p:pic>
        <p:nvPicPr>
          <p:cNvPr id="1026" name="Picture 2">
            <a:extLst>
              <a:ext uri="{FF2B5EF4-FFF2-40B4-BE49-F238E27FC236}">
                <a16:creationId xmlns:a16="http://schemas.microsoft.com/office/drawing/2014/main" id="{B1223276-BE6F-ECB9-77E3-23798EB739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1819" y="2987111"/>
            <a:ext cx="6160687" cy="3870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2400" dirty="0"/>
              <a:t>RESULTS </a:t>
            </a:r>
            <a:endParaRPr lang="en-IN" sz="24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1992761" y="692106"/>
            <a:ext cx="7453079" cy="477520"/>
          </a:xfrm>
        </p:spPr>
        <p:txBody>
          <a:bodyPr>
            <a:normAutofit fontScale="92500"/>
          </a:bodyPr>
          <a:lstStyle/>
          <a:p>
            <a:pPr marL="0" indent="0">
              <a:buNone/>
            </a:pPr>
            <a:r>
              <a:rPr lang="en-US" b="1" dirty="0"/>
              <a:t>Relationships between rainfall, water use, fertilizer, and yield</a:t>
            </a:r>
            <a:endParaRPr lang="en-IN" b="1" dirty="0"/>
          </a:p>
        </p:txBody>
      </p:sp>
      <p:pic>
        <p:nvPicPr>
          <p:cNvPr id="3" name="Picture 2">
            <a:extLst>
              <a:ext uri="{FF2B5EF4-FFF2-40B4-BE49-F238E27FC236}">
                <a16:creationId xmlns:a16="http://schemas.microsoft.com/office/drawing/2014/main" id="{6221A498-A3BD-BCA5-9EC8-A0FE59771337}"/>
              </a:ext>
            </a:extLst>
          </p:cNvPr>
          <p:cNvPicPr>
            <a:picLocks noChangeAspect="1"/>
          </p:cNvPicPr>
          <p:nvPr/>
        </p:nvPicPr>
        <p:blipFill>
          <a:blip r:embed="rId3"/>
          <a:stretch>
            <a:fillRect/>
          </a:stretch>
        </p:blipFill>
        <p:spPr>
          <a:xfrm>
            <a:off x="1747519" y="1008546"/>
            <a:ext cx="8259865" cy="1996613"/>
          </a:xfrm>
          <a:prstGeom prst="rect">
            <a:avLst/>
          </a:prstGeom>
        </p:spPr>
      </p:pic>
      <p:pic>
        <p:nvPicPr>
          <p:cNvPr id="4098" name="Picture 2">
            <a:extLst>
              <a:ext uri="{FF2B5EF4-FFF2-40B4-BE49-F238E27FC236}">
                <a16:creationId xmlns:a16="http://schemas.microsoft.com/office/drawing/2014/main" id="{552FA093-1E5A-062D-A262-34B926EA7C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4097" y="3005160"/>
            <a:ext cx="9425003" cy="3852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2400" dirty="0"/>
              <a:t>RESULTS</a:t>
            </a:r>
            <a:endParaRPr lang="en-IN" sz="24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1992762" y="620302"/>
            <a:ext cx="7461956" cy="477520"/>
          </a:xfrm>
        </p:spPr>
        <p:txBody>
          <a:bodyPr>
            <a:normAutofit fontScale="85000" lnSpcReduction="10000"/>
          </a:bodyPr>
          <a:lstStyle/>
          <a:p>
            <a:pPr marL="0" indent="0">
              <a:buNone/>
            </a:pPr>
            <a:r>
              <a:rPr lang="en-US" b="1" dirty="0"/>
              <a:t>Statistical test confirms seasonal profit differences are significant</a:t>
            </a:r>
            <a:endParaRPr lang="en-IN" b="1" dirty="0"/>
          </a:p>
        </p:txBody>
      </p:sp>
      <p:pic>
        <p:nvPicPr>
          <p:cNvPr id="3" name="Picture 2">
            <a:extLst>
              <a:ext uri="{FF2B5EF4-FFF2-40B4-BE49-F238E27FC236}">
                <a16:creationId xmlns:a16="http://schemas.microsoft.com/office/drawing/2014/main" id="{E5F86EC4-03FF-0D16-A9FA-1DBB8CF9615D}"/>
              </a:ext>
            </a:extLst>
          </p:cNvPr>
          <p:cNvPicPr>
            <a:picLocks noChangeAspect="1"/>
          </p:cNvPicPr>
          <p:nvPr/>
        </p:nvPicPr>
        <p:blipFill>
          <a:blip r:embed="rId3"/>
          <a:stretch>
            <a:fillRect/>
          </a:stretch>
        </p:blipFill>
        <p:spPr>
          <a:xfrm>
            <a:off x="1358283" y="1489967"/>
            <a:ext cx="9161756" cy="439592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fontScale="90000"/>
          </a:bodyPr>
          <a:lstStyle/>
          <a:p>
            <a:r>
              <a:rPr lang="en-IN" sz="4000" dirty="0"/>
              <a:t>Future scope</a:t>
            </a: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BDF76741-0067-FE4F-59C3-9068AECEE814}"/>
              </a:ext>
            </a:extLst>
          </p:cNvPr>
          <p:cNvSpPr txBox="1"/>
          <p:nvPr/>
        </p:nvSpPr>
        <p:spPr>
          <a:xfrm>
            <a:off x="603681" y="1335312"/>
            <a:ext cx="8704555"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Predictive Modeling</a:t>
            </a:r>
            <a:r>
              <a:rPr kumimoji="0" lang="en-US" altLang="en-US" sz="1800" b="0" i="0" u="none" strike="noStrike" cap="none" normalizeH="0" baseline="0" dirty="0">
                <a:ln>
                  <a:noFill/>
                </a:ln>
                <a:solidFill>
                  <a:schemeClr val="tx1"/>
                </a:solidFill>
                <a:effectLst/>
                <a:latin typeface="Arial" panose="020B0604020202020204" pitchFamily="34" charset="0"/>
              </a:rPr>
              <a:t> – Build a machine learning model (e.g., regression) to predict yield or profit for a given season, crop, and region based on environmental and input conditions, rather than only analyzing historical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Multi-Year Data</a:t>
            </a:r>
            <a:r>
              <a:rPr kumimoji="0" lang="en-US" altLang="en-US" sz="1800" b="0" i="0" u="none" strike="noStrike" cap="none" normalizeH="0" baseline="0" dirty="0">
                <a:ln>
                  <a:noFill/>
                </a:ln>
                <a:solidFill>
                  <a:schemeClr val="tx1"/>
                </a:solidFill>
                <a:effectLst/>
                <a:latin typeface="Arial" panose="020B0604020202020204" pitchFamily="34" charset="0"/>
              </a:rPr>
              <a:t> – Extend the analysis with data across multiple years to study long-term seasonal trends and the impact of climate variability, not just a single snapshot.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Weather Integration</a:t>
            </a:r>
            <a:r>
              <a:rPr kumimoji="0" lang="en-US" altLang="en-US" sz="1800" b="0" i="0" u="none" strike="noStrike" cap="none" normalizeH="0" baseline="0" dirty="0">
                <a:ln>
                  <a:noFill/>
                </a:ln>
                <a:solidFill>
                  <a:schemeClr val="tx1"/>
                </a:solidFill>
                <a:effectLst/>
                <a:latin typeface="Arial" panose="020B0604020202020204" pitchFamily="34" charset="0"/>
              </a:rPr>
              <a:t> – Combine live weather/forecast data with this analysis to give farmers season-specific recommendations in advance rather than after the fact.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Dashboard</a:t>
            </a:r>
            <a:r>
              <a:rPr kumimoji="0" lang="en-US" altLang="en-US" sz="1800" b="0" i="0" u="none" strike="noStrike" cap="none" normalizeH="0" baseline="0" dirty="0">
                <a:ln>
                  <a:noFill/>
                </a:ln>
                <a:solidFill>
                  <a:schemeClr val="tx1"/>
                </a:solidFill>
                <a:effectLst/>
                <a:latin typeface="Arial" panose="020B0604020202020204" pitchFamily="34" charset="0"/>
              </a:rPr>
              <a:t> – Convert this analysis into an interactive dashboard (e.g., using Power BI or a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app) so farmers and officials can explore seasonal patterns for their specific state, district, or crop without needing to read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Recommendation System</a:t>
            </a:r>
            <a:r>
              <a:rPr kumimoji="0" lang="en-US" altLang="en-US" sz="1800" b="0" i="0" u="none" strike="noStrike" cap="none" normalizeH="0" baseline="0" dirty="0">
                <a:ln>
                  <a:noFill/>
                </a:ln>
                <a:solidFill>
                  <a:schemeClr val="tx1"/>
                </a:solidFill>
                <a:effectLst/>
                <a:latin typeface="Arial" panose="020B0604020202020204" pitchFamily="34" charset="0"/>
              </a:rPr>
              <a:t> – Develop a simple advisory tool that suggests the best crop-season combination for a given region based on historical yield and profit performance.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187364"/>
            <a:ext cx="7232875" cy="646331"/>
          </a:xfrm>
          <a:prstGeom prst="rect">
            <a:avLst/>
          </a:prstGeom>
          <a:noFill/>
        </p:spPr>
        <p:txBody>
          <a:bodyPr wrap="square">
            <a:spAutoFit/>
          </a:bodyPr>
          <a:lstStyle/>
          <a:p>
            <a:r>
              <a:rPr lang="en-US" dirty="0"/>
              <a:t>https://github.com/vaishnavi007dixit/Seasonal-Agriculture-Performance-Analysis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BC93C1F-49EC-9C29-2A31-A27B3624AA0F}"/>
              </a:ext>
            </a:extLst>
          </p:cNvPr>
          <p:cNvPicPr>
            <a:picLocks noChangeAspect="1"/>
          </p:cNvPicPr>
          <p:nvPr/>
        </p:nvPicPr>
        <p:blipFill>
          <a:blip r:embed="rId3"/>
          <a:stretch>
            <a:fillRect/>
          </a:stretch>
        </p:blipFill>
        <p:spPr>
          <a:xfrm>
            <a:off x="1108327" y="1506935"/>
            <a:ext cx="7826418" cy="482284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1450</TotalTime>
  <Words>1101</Words>
  <Application>Microsoft Office PowerPoint</Application>
  <PresentationFormat>Widescreen</PresentationFormat>
  <Paragraphs>45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This project focuses on analyzing seasonal patterns in agricultural performance using a real-world style dataset covering 4,000 farm records across multiple Indian states, districts, and crops, spread across the three major agricultural seasons — Kharif, Rabi, and Zaid. The dataset combines four categories of information for each farm: environmental conditions (rainfall, temperature, humidity, sunlight hours), soil and input conditions (soil pH, soil moisture, nitrogen/phosphorus/potassium levels, fertilizer and pesticide usage, irrigation method, seed quality), production outcomes (yield per hectare, total production), and economic outcomes (market price, cost, revenue, and profit), along with resource-efficiency metrics like water usage and water efficiency, and a disease/pest risk indicator. The goal was not to describe the dataset generically, but to specifically investigate how these factors change from season to season, and whether those seasonal differences are meaningful rather than random. Approach followed: Data Cleaning – Missing values in Rainfall, Soil Moisture, and Yield were identified and filled using the median value within each season, since imputing season-wise preserves the seasonal character of the data rather than distorting it with a single overall average. Duplicate records were also checked. Exploratory Data Analysis (EDA) – Using Python libraries (Pandas, NumPy, Matplotlib, Seaborn), the dataset was explored to compare yield, profit, rainfall, temperature, humidity, water usage, water efficiency, fertilizer/pesticide usage, and disease/pest risk across the three seasons using boxplots, bar charts, and violin plots. Deeper Pattern Analysis – Crop-wise and state-wise seasonal comparisons were built using pivot tables and heatmaps, to check whether seasonal patterns are consistent across all crops/regions or vary in unexpected ways. Correlation Analysis – A correlation heatmap was built across key numeric variables (rainfall, temperature, soil moisture, fertilizer, yield, water usage/efficiency, disease risk, and profit) to understand relationships between environmental/input factors and outcomes. Statistical Testing – A one-way ANOVA test was applied to Yield and Profit to statistically confirm whether the seasonal differences observed visually are actually significant, rather than due to chance. Outcome:The analysis shows that while resource usage and environmental factors vary noticeably across seasons, ANOVA testing revealed that yield differences across seasons were not statistically significant (p = 0.212), whereas profit differences across seasons were highly statistically significant (p &lt; 0.00001). This suggests that season affects economic outcomes more directly than it affects raw yield, likely due to seasonal variation in cost, market price, and resource efficiency </vt:lpstr>
      <vt:lpstr>WHO ARE THE END USERS?</vt:lpstr>
      <vt:lpstr>Technology Used</vt:lpstr>
      <vt:lpstr>RESULTS </vt:lpstr>
      <vt:lpstr>RESULTS </vt:lpstr>
      <vt:lpstr>RESULTS </vt:lpstr>
      <vt:lpstr>RESULTS </vt:lpstr>
      <vt:lpstr>RESULTS</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104</cp:revision>
  <dcterms:created xsi:type="dcterms:W3CDTF">2021-07-11T13:13:15Z</dcterms:created>
  <dcterms:modified xsi:type="dcterms:W3CDTF">2026-09-10T06:28:41Z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